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Spline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88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2231628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Telecom Customer Churn Prediction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5291898" y="3661227"/>
            <a:ext cx="617978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End-to-end analytics: Python (pandas) | SQL | Power BI. Analysis of 7,043 customers to identify drivers of churn and recommend retention actions.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1049338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Objectives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720012" y="1907183"/>
            <a:ext cx="2987005" cy="1858963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1087" y="2138263"/>
            <a:ext cx="25248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Prep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51087" y="2547441"/>
            <a:ext cx="2524856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 and feature-engineer the raw dataset using Python (pandas).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12693" y="1907183"/>
            <a:ext cx="2987104" cy="1858963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43767" y="2138263"/>
            <a:ext cx="252495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Analysis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143767" y="2547441"/>
            <a:ext cx="2524955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SQL to answer key churn questions and quantify risk segments.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0012" y="3971826"/>
            <a:ext cx="2987005" cy="1858963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25399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1087" y="4202906"/>
            <a:ext cx="25248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Visualization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951087" y="4612084"/>
            <a:ext cx="2524856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Design an interactive Power BI dashboard for stakeholders.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12693" y="3971826"/>
            <a:ext cx="2987104" cy="1858963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25399">
            <a:solidFill>
              <a:srgbClr val="0912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43767" y="4202906"/>
            <a:ext cx="252495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Action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143767" y="4612084"/>
            <a:ext cx="2524955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Translate findings into clear, actionable retention recommendations.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79959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Dataset Overview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869182"/>
            <a:ext cx="3999507" cy="39996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27705" y="2773716"/>
            <a:ext cx="6250228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IBM Telco Customer Churn dataset — 7,043 customers, 21 attributes. Includes demographics, account details (tenure, contract, payment), subscribed services, and churn label.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27705" y="3946227"/>
            <a:ext cx="6250228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Demographics: gender, senior citizen, partner, dependents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Account: tenure, contract type, payment method, billing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Services: phone, internet, security, tech support, streaming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53" y="122932"/>
            <a:ext cx="4407980" cy="6612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607665"/>
            <a:ext cx="6179784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Cleaning &amp; Feature Engineering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5291898" y="1698129"/>
            <a:ext cx="327811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291898" y="1957685"/>
            <a:ext cx="6179784" cy="1905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7" name="Text 4"/>
          <p:cNvSpPr/>
          <p:nvPr/>
        </p:nvSpPr>
        <p:spPr>
          <a:xfrm>
            <a:off x="5291898" y="2077740"/>
            <a:ext cx="6179784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Standardize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91898" y="2383830"/>
            <a:ext cx="6179784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Column names → lowercase snake_case.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91898" y="2872879"/>
            <a:ext cx="327811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91898" y="3132435"/>
            <a:ext cx="6179784" cy="1905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1" name="Text 8"/>
          <p:cNvSpPr/>
          <p:nvPr/>
        </p:nvSpPr>
        <p:spPr>
          <a:xfrm>
            <a:off x="5291898" y="3252490"/>
            <a:ext cx="6179784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Fix Missing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91898" y="3558580"/>
            <a:ext cx="6179784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total_charges blank → numeric 0 for tenure=0.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291898" y="4047629"/>
            <a:ext cx="327811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91898" y="4307185"/>
            <a:ext cx="6179784" cy="1905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5" name="Text 12"/>
          <p:cNvSpPr/>
          <p:nvPr/>
        </p:nvSpPr>
        <p:spPr>
          <a:xfrm>
            <a:off x="5291898" y="4427240"/>
            <a:ext cx="6179784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Types &amp; Drops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91898" y="4733330"/>
            <a:ext cx="6179784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Convert categories; drop customer_id.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291898" y="5222379"/>
            <a:ext cx="327811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291898" y="5481935"/>
            <a:ext cx="6179784" cy="1905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9" name="Text 16"/>
          <p:cNvSpPr/>
          <p:nvPr/>
        </p:nvSpPr>
        <p:spPr>
          <a:xfrm>
            <a:off x="5291898" y="5601990"/>
            <a:ext cx="6179784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Engineered Features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291898" y="5908080"/>
            <a:ext cx="6179784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tenure_group, avg_monthly_spend, num_services, is_new_customer.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35335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Overall Churn Snapshot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78577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 of 7,043 customers, 1,869 churned (26.54%) and 5,174 retained (73.46%).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53115" y="2868116"/>
            <a:ext cx="5124917" cy="802283"/>
          </a:xfrm>
          <a:prstGeom prst="roundRect">
            <a:avLst>
              <a:gd name="adj" fmla="val 38466"/>
            </a:avLst>
          </a:prstGeom>
          <a:solidFill>
            <a:srgbClr val="00805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91" y="3186509"/>
            <a:ext cx="257169" cy="205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21634" y="3104908"/>
            <a:ext cx="4860307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Churn rate: 26.54%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953816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Highest-Risk Segments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914551"/>
            <a:ext cx="989583" cy="1236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6764" y="2914551"/>
            <a:ext cx="216569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Month-to-Month Contracts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966764" y="3609479"/>
            <a:ext cx="2165693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3,875 customers; 1,655 churned → 42% churn rate (highest by contract).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625" y="2914551"/>
            <a:ext cx="989583" cy="1236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36377" y="2914551"/>
            <a:ext cx="216569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Fiber Optic Customers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636377" y="3609479"/>
            <a:ext cx="2165693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3,096 customers; 1,297 churned → 41.89% churn rate; avg monthly $91.5.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38" y="2914551"/>
            <a:ext cx="989583" cy="1236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914551"/>
            <a:ext cx="216569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Electronic Check Payments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305990" y="3609479"/>
            <a:ext cx="2165693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2,365 customers; 1,071 churned → 45% churn rate (~3x automatic payments).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246882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Tenure &amp; Loyalty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336105"/>
            <a:ext cx="6812883" cy="3065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46256" y="2547375"/>
            <a:ext cx="1192249" cy="163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0–12 months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746256" y="2763557"/>
            <a:ext cx="1192249" cy="14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Churn 47%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925403" y="4846769"/>
            <a:ext cx="1198800" cy="16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13–24 months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925403" y="5062951"/>
            <a:ext cx="1198800" cy="14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Churn 28%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091448" y="2524446"/>
            <a:ext cx="1192249" cy="163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25–48 months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091448" y="2740629"/>
            <a:ext cx="1192249" cy="14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Churn 20%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270595" y="4846769"/>
            <a:ext cx="1192249" cy="16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49–60 months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70595" y="5062951"/>
            <a:ext cx="1192249" cy="14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Churn 14%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41082" y="2341717"/>
            <a:ext cx="3436852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Churn risk is highest in the first year (0–12 months: 47%), then declines sharply as tenure increases. Average tenure: churned = 17 months; retained = 37 months.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41082" y="4218880"/>
            <a:ext cx="3436852" cy="1131491"/>
          </a:xfrm>
          <a:prstGeom prst="roundRect">
            <a:avLst>
              <a:gd name="adj" fmla="val 27274"/>
            </a:avLst>
          </a:prstGeom>
          <a:solidFill>
            <a:srgbClr val="00805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757" y="4537273"/>
            <a:ext cx="257169" cy="205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09601" y="4455672"/>
            <a:ext cx="256265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First 12 months are the critical retention window.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61076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423" y="150912"/>
            <a:ext cx="4372659" cy="65591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589260"/>
            <a:ext cx="617978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Additional Patterns</a:t>
            </a:r>
            <a:endParaRPr lang="en-US" sz="3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1409005"/>
            <a:ext cx="398552" cy="3985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59858" y="1477466"/>
            <a:ext cx="55399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Senior Citizens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359858" y="1870075"/>
            <a:ext cx="5539939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1,142 customers; 476 churned → 41% vs 23% for non-seniors.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12" y="2570163"/>
            <a:ext cx="398552" cy="3985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59858" y="2638623"/>
            <a:ext cx="55399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Number of Services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359858" y="3031232"/>
            <a:ext cx="5539939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Zero services churn 43.75% vs 26.34% for customers with ≥1 service.</a:t>
            </a:r>
            <a:endParaRPr lang="en-US" sz="1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12" y="4045248"/>
            <a:ext cx="398552" cy="3985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59858" y="4113709"/>
            <a:ext cx="55399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Paperless Billing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1359858" y="4506317"/>
            <a:ext cx="5539939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Paperless users churn 33% vs 16% for paper billing.</a:t>
            </a:r>
            <a:endParaRPr lang="en-US" sz="15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012" y="5206405"/>
            <a:ext cx="398552" cy="39856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59858" y="5274866"/>
            <a:ext cx="55399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Monthly Charges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1359858" y="5667474"/>
            <a:ext cx="5539939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Churned avg $74.44 vs retained avg $61.27 — higher spenders are churning more.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716683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BI Dashboard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805906"/>
            <a:ext cx="3436852" cy="21261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050" y="2809633"/>
            <a:ext cx="681288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Interactive dashboard with slicers for gender, contract, payment method, internet service, tenure group, and senior citizen — enabling exploration of churn by segment.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65050" y="3982145"/>
            <a:ext cx="6812883" cy="105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Summary cards: 7K total, 2K churned, 26.54% churn rate, 5K active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 visuals: churn by contract, internet service, tenure, number of services, payment method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88318"/>
            <a:ext cx="1075167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Insights &amp; Recommendations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484213"/>
            <a:ext cx="3459274" cy="38405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2029" y="1631255"/>
            <a:ext cx="235242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41463" y="2268538"/>
            <a:ext cx="3016373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Top Insights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41463" y="2653010"/>
            <a:ext cx="3016373" cy="2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- Month-to-month churn highest (42.7%). - Month-to-month + Fiber optic = 54% (highest-risk). - First 12 months most critical (47%). - Electronic check churn ~3x automatic payments. - Seniors churn 41% vs 23% non-seniors.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6111" y="1484213"/>
            <a:ext cx="3459374" cy="38405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78127" y="1631255"/>
            <a:ext cx="235242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587562" y="2268538"/>
            <a:ext cx="301647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87562" y="2653010"/>
            <a:ext cx="3016472" cy="2450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- Incentivize annual/2‑year contracts via targeted discounts. - Investigate fiber plan pricing &amp; service quality. - Prioritize retention in first 12 months. - Promote automatic payments over electronic checks. - Upsell add-on services to increase stickiness.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2309" y="1484213"/>
            <a:ext cx="3459274" cy="38405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24325" y="1631255"/>
            <a:ext cx="235242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233760" y="2268538"/>
            <a:ext cx="3016373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233760" y="2653010"/>
            <a:ext cx="3016373" cy="2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Analysis of 7,043 records (Python, SQL, Power BI) identifies contract type, tenure, internet service, and payment method as primary churn drivers — providing a data-driven foundation for targeted retention strategies.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20012" y="5535017"/>
            <a:ext cx="10751670" cy="759321"/>
          </a:xfrm>
          <a:prstGeom prst="roundRect">
            <a:avLst>
              <a:gd name="adj" fmla="val 38737"/>
            </a:avLst>
          </a:prstGeom>
          <a:solidFill>
            <a:srgbClr val="02234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064" y="5802511"/>
            <a:ext cx="245064" cy="1960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57179" y="5773635"/>
            <a:ext cx="10528037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immediate retention on month-to-month + fiber customers and new customers within their first year.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2026-10-13T09:25:51Z</dcterms:created>
  <dcterms:modified xsi:type="dcterms:W3CDTF">2026-10-13T09:25:51Z</dcterms:modified>
</cp:coreProperties>
</file>